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41b668e79e44ca" /><Relationship Type="http://schemas.openxmlformats.org/officeDocument/2006/relationships/extended-properties" Target="/docProps/app.xml" Id="Rf56609f904e24f87" /><Relationship Type="http://schemas.openxmlformats.org/officeDocument/2006/relationships/officeDocument" Target="/ppt/presentation.xml" Id="Rbb23543a70ec48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ef66ba5743456d"/>
  </p:sldMasterIdLst>
  <p:notesMasterIdLst>
    <p:notesMasterId xmlns:r="http://schemas.openxmlformats.org/officeDocument/2006/relationships" r:id="R83c4c0e34e514b6a"/>
  </p:notesMasterIdLst>
  <p:sldIdLst>
    <p:sldId xmlns:r="http://schemas.openxmlformats.org/officeDocument/2006/relationships" id="256" r:id="R81afd42e906c45c7"/>
    <p:sldId xmlns:r="http://schemas.openxmlformats.org/officeDocument/2006/relationships" id="257" r:id="R0168de38be3147b5"/>
    <p:sldId xmlns:r="http://schemas.openxmlformats.org/officeDocument/2006/relationships" id="258" r:id="R16da7ee632ea40d2"/>
    <p:sldId xmlns:r="http://schemas.openxmlformats.org/officeDocument/2006/relationships" id="259" r:id="R055677e321b248e8"/>
    <p:sldId xmlns:r="http://schemas.openxmlformats.org/officeDocument/2006/relationships" id="260" r:id="R1aea2e288ef14535"/>
    <p:sldId xmlns:r="http://schemas.openxmlformats.org/officeDocument/2006/relationships" id="261" r:id="R55204711c426477b"/>
    <p:sldId xmlns:r="http://schemas.openxmlformats.org/officeDocument/2006/relationships" id="262" r:id="R8589278becfb4441"/>
    <p:sldId xmlns:r="http://schemas.openxmlformats.org/officeDocument/2006/relationships" id="263" r:id="R52f347dfdb5546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4c1b86691a4b03" /><Relationship Type="http://schemas.openxmlformats.org/officeDocument/2006/relationships/slideMaster" Target="/ppt/slideMasters/slideMaster1.xml" Id="R17ef66ba5743456d" /><Relationship Type="http://schemas.openxmlformats.org/officeDocument/2006/relationships/notesMaster" Target="/ppt/notesMasters/notesMaster1.xml" Id="R83c4c0e34e514b6a" /><Relationship Type="http://schemas.openxmlformats.org/officeDocument/2006/relationships/presProps" Target="/ppt/presProps.xml" Id="R225e5fdae34c4552" /><Relationship Type="http://schemas.openxmlformats.org/officeDocument/2006/relationships/tableStyles" Target="/ppt/tableStyles.xml" Id="Rd54ad12e0b234bde" /><Relationship Type="http://schemas.openxmlformats.org/officeDocument/2006/relationships/slide" Target="/ppt/slides/slide1.xml" Id="R81afd42e906c45c7" /><Relationship Type="http://schemas.openxmlformats.org/officeDocument/2006/relationships/slide" Target="/ppt/slides/slide2.xml" Id="R0168de38be3147b5" /><Relationship Type="http://schemas.openxmlformats.org/officeDocument/2006/relationships/slide" Target="/ppt/slides/slide3.xml" Id="R16da7ee632ea40d2" /><Relationship Type="http://schemas.openxmlformats.org/officeDocument/2006/relationships/slide" Target="/ppt/slides/slide4.xml" Id="R055677e321b248e8" /><Relationship Type="http://schemas.openxmlformats.org/officeDocument/2006/relationships/slide" Target="/ppt/slides/slide5.xml" Id="R1aea2e288ef14535" /><Relationship Type="http://schemas.openxmlformats.org/officeDocument/2006/relationships/slide" Target="/ppt/slides/slide6.xml" Id="R55204711c426477b" /><Relationship Type="http://schemas.openxmlformats.org/officeDocument/2006/relationships/slide" Target="/ppt/slides/slide7.xml" Id="R8589278becfb4441" /><Relationship Type="http://schemas.openxmlformats.org/officeDocument/2006/relationships/slide" Target="/ppt/slides/slide8.xml" Id="R52f347dfdb5546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72a85f911741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9c1a878ad34114" /><Relationship Type="http://schemas.openxmlformats.org/officeDocument/2006/relationships/notesMaster" Target="/ppt/notesMasters/notesMaster1.xml" Id="Rbfc522157e4f4d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e5f2cec6ff4581" /><Relationship Type="http://schemas.openxmlformats.org/officeDocument/2006/relationships/notesMaster" Target="/ppt/notesMasters/notesMaster1.xml" Id="R4be636a9b87f46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3057d393084823" /><Relationship Type="http://schemas.openxmlformats.org/officeDocument/2006/relationships/notesMaster" Target="/ppt/notesMasters/notesMaster1.xml" Id="Rfa8aaa6e10714b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ba9620bb754e54" /><Relationship Type="http://schemas.openxmlformats.org/officeDocument/2006/relationships/notesMaster" Target="/ppt/notesMasters/notesMaster1.xml" Id="Ra05789150f6b45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0f8954a1f94ab5" /><Relationship Type="http://schemas.openxmlformats.org/officeDocument/2006/relationships/notesMaster" Target="/ppt/notesMasters/notesMaster1.xml" Id="R1ff6a3e3f9414d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49e7e92b084411" /><Relationship Type="http://schemas.openxmlformats.org/officeDocument/2006/relationships/notesMaster" Target="/ppt/notesMasters/notesMaster1.xml" Id="R64f8c8d8bbf947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a43c9ec5db476d" /><Relationship Type="http://schemas.openxmlformats.org/officeDocument/2006/relationships/notesMaster" Target="/ppt/notesMasters/notesMaster1.xml" Id="R24c0828ae49a44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7801b2c8b74ae9" /><Relationship Type="http://schemas.openxmlformats.org/officeDocument/2006/relationships/notesMaster" Target="/ppt/notesMasters/notesMaster1.xml" Id="R7db2c9a5fbbd45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架空のプロジェクトを題材にした記入例です。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c939c34c141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3e7ffd63484d64" /><Relationship Type="http://schemas.openxmlformats.org/officeDocument/2006/relationships/slideLayout" Target="/ppt/slideLayouts/slideLayout1.xml" Id="R148be76324184c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8be76324184c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82e5e2ed84186" /><Relationship Type="http://schemas.openxmlformats.org/officeDocument/2006/relationships/notesSlide" Target="/ppt/notesSlides/notesSlide1.xml" Id="R3b981df4f75a45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4b933bbea47c5" /><Relationship Type="http://schemas.openxmlformats.org/officeDocument/2006/relationships/notesSlide" Target="/ppt/notesSlides/notesSlide2.xml" Id="R7f617854199648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c8c8a77554784" /><Relationship Type="http://schemas.openxmlformats.org/officeDocument/2006/relationships/notesSlide" Target="/ppt/notesSlides/notesSlide3.xml" Id="Rb641f7ebaad540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e0e6310634f35" /><Relationship Type="http://schemas.openxmlformats.org/officeDocument/2006/relationships/notesSlide" Target="/ppt/notesSlides/notesSlide4.xml" Id="R13c506e5e9b24f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84b06253e4d9c" /><Relationship Type="http://schemas.openxmlformats.org/officeDocument/2006/relationships/notesSlide" Target="/ppt/notesSlides/notesSlide5.xml" Id="R8fbfb33de8d04a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11c9b5e99468e" /><Relationship Type="http://schemas.openxmlformats.org/officeDocument/2006/relationships/notesSlide" Target="/ppt/notesSlides/notesSlide6.xml" Id="R5077598628e047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a36f0d6bb44b3" /><Relationship Type="http://schemas.openxmlformats.org/officeDocument/2006/relationships/notesSlide" Target="/ppt/notesSlides/notesSlide7.xml" Id="Rb20407cac2ac44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98b9832d14656" /><Relationship Type="http://schemas.openxmlformats.org/officeDocument/2006/relationships/notesSlide" Target="/ppt/notesSlides/notesSlide8.xml" Id="R09328cdadf8e44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691F1-DB1C-4211-A0AC-BBDCC0CA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D8CC8-FAAD-4FDD-88C9-11840ED0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181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D3740-AE38-479D-A88D-4DE871DE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顧客管理システム刷新プロジェクト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EDCEA-B0E9-4174-B794-195F585F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335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6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打合せ資料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9E770-2149-4175-96F9-33B5C760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外部認証障害への対応と本番メンテナンス計画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7D834-FB94-427E-8C7F-4E35E9DD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F1384-8860-4015-AD99-E71012AB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日時　2026年9月19日 10:00–11:00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BAB7F-65A5-41A1-893D-50C22BBD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参加者　山田、佐藤、鈴木、高橋、伊藤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8D48F-D15C-4EEC-B9F9-011B49DE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記入例（架空のプロジェクト）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983AE-AFFE-4983-BBD1-35E6C051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143000"/>
            <a:ext cx="13906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70DF4-DB71-4230-97EA-97353F56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38275"/>
            <a:ext cx="116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GO /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NO-GO</a:t>
            </a:r>
          </a:p>
        </p:txBody>
      </p:sp>
    </p:spTree>
    <p:extLst>
      <p:ext uri="{BB962C8B-B14F-4D97-AF65-F5344CB8AC3E}">
        <p14:creationId xmlns:p14="http://schemas.microsoft.com/office/powerpoint/2010/main" val="1434513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C3123-0A76-4E5A-A6DF-3D5D9050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280AB-E734-4736-9926-46523AEF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本日の確認事項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3E924-A885-4141-AA99-5415F69F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会議終了時に判断を残す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7446A-15CB-4544-99E3-9E7BEB3E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4DE27-51A8-473E-8F4B-762DD26E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452AB-2099-449E-85D6-131BE25C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顧客管理システム刷新プロジェクト　記入例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50E79-4DD1-4EE6-B314-83BA78BB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会議のゴール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78C0C-8587-41C4-AED0-5E1FF353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63341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1　</a:t>
            </a:r>
            <a:r>
              <a:rPr sz="1800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9月26日の本番メンテナンス実施可否を決める</a:t>
            </a:r>
          </a:p>
          <a:p xmlns:a="http://schemas.openxmlformats.org/drawingml/2006/main">
            <a:pPr algn="l">
              <a:defRPr sz="180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2　</a:t>
            </a:r>
            <a:r>
              <a:rPr sz="1800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サービス停止時間と当日の担当を確認する</a:t>
            </a:r>
          </a:p>
          <a:p xmlns:a="http://schemas.openxmlformats.org/drawingml/2006/main">
            <a:pPr algn="l">
              <a:defRPr sz="180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3　</a:t>
            </a:r>
            <a:r>
              <a:rPr sz="1800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中止条件と切戻し判断者を合意する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352CD-8AAA-4886-B988-F3AD80FF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判断対象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581D4-6236-4DC4-8372-DB3B836B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3714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049F2-72A7-415D-894B-19FE05D7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400"/>
              </a:spcAft>
              <a:buChar char="•"/>
              <a:defRPr sz="157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変更内容と検証結果</a:t>
            </a:r>
          </a:p>
          <a:p xmlns:a="http://schemas.openxmlformats.org/drawingml/2006/main">
            <a:pPr marL="254000" indent="-114300">
              <a:spcAft>
                <a:spcPts val="1400"/>
              </a:spcAft>
              <a:buChar char="•"/>
              <a:defRPr sz="157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22:00–23:30の作業計画</a:t>
            </a:r>
          </a:p>
          <a:p xmlns:a="http://schemas.openxmlformats.org/drawingml/2006/main">
            <a:pPr marL="254000" indent="-114300">
              <a:spcAft>
                <a:spcPts val="1400"/>
              </a:spcAft>
              <a:buChar char="•"/>
              <a:defRPr sz="157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切戻し条件と周知方法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4B95B-8BE7-4CEC-8386-0659BE23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進行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B34E5-23EB-4460-BCA2-7A5AC972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8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障害概要　15分　　変更・検証　15分　　当日計画　20分　　判断　10分</a:t>
            </a:r>
          </a:p>
        </p:txBody>
      </p:sp>
    </p:spTree>
    <p:extLst>
      <p:ext uri="{BB962C8B-B14F-4D97-AF65-F5344CB8AC3E}">
        <p14:creationId xmlns:p14="http://schemas.microsoft.com/office/powerpoint/2010/main" val="9404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BACE18-E1C5-4B93-817F-080B0D40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0FEC6-82E5-47DA-8D68-C657E411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障害概要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7CA12-05F3-43C2-8F7C-21772642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INC-2026-001　結合テスト環境のログイン失敗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6FDA6-7C2D-4DF2-AB39-70B802CD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726CF-10C1-4EF7-A74F-B6AB0D58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87A52-08EB-4E14-9EC7-FB2863CC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顧客管理システム刷新プロジェクト　記入例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0FB82-42B1-45E1-8596-C4C7C04A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666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B13B3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5250" b="1">
                <a:solidFill>
                  <a:srgbClr val="B13B35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E645A-9404-47A9-B08B-EE6016F6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812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/ 126件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99837-B838-408A-8BAE-8EDA0C09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717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ログイン失敗　11.1%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50596-4B10-423E-9498-DE43406B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04950"/>
            <a:ext cx="190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4A6CF-A2D4-4B02-AD0C-D5BA125F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62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影響範囲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56116-072A-4557-B854-E9F37490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1930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50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発生先は結合テスト環境のみ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50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本番利用者への影響なし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50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顧客データの欠損・不整合なし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48D5C-5F58-45CC-9395-39093213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経過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3D02C-500F-40F9-8E41-E478DDB8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822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EEDCD-AC77-4035-9881-D16A2688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00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6DD02-11AE-4FD3-B900-7CC3C535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09:35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30048-16E5-410D-BA5D-E8926526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5910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テストで検知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9DEB3-32B7-4061-B212-157D0740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200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1C9F0-0013-422E-A255-6A9B65E2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29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09:48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1B4D1-02C0-4B73-BCF3-C0490429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910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認証API遅延を特定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D11DAB-D9B6-44BB-A865-3645A345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00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2F4299-8B61-4B3D-A501-F1A5A57F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29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10:20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82A2C-4E7B-4EB4-A44A-344ABDEE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910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暫定設定を反映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4B78D5-D4E3-44D2-A9E9-FE986E9A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00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A6B4C4-3F9E-47E3-9E70-218DAF3A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29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11:05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6DA351-605F-4C6A-B306-E1E65EC6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910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50回連続成功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D47A2-5DE3-47BA-8C4E-273AF566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42987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5C0F53-DEB7-4550-9FCC-52D5537E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05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16805A"/>
                </a:solidFill>
                <a:latin typeface="Noto Sans CJK JP"/>
                <a:ea typeface="Noto Sans CJK JP"/>
                <a:cs typeface="Noto Sans CJK JP"/>
              </a:rPr>
              <a:t>現在の状態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36AF86-DA8A-4E5F-ABEA-9BAD6D9B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05475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暫定対策後は再発なし。本番反映前に監視と切戻し条件を確認する。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94798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532A58-F1BB-4C33-8F39-89065B7D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6FC59-143A-462F-8FAB-0AAC8D91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原因と検証結果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ACC69-B89B-47BD-B218-B662ABFD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応答時間とタイムアウト設定の不整合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4F064-E7CD-49B3-91E5-11CD6432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D1F80-C42E-4AF0-9AE8-BE4642B5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D3A78-E9C9-44AE-9B5B-033A2DDB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顧客管理システム刷新プロジェクト　記入例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B3F74-58ED-441A-9ABB-51783653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13B3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B13B35"/>
                </a:solidFill>
                <a:latin typeface="Noto Sans CJK JP"/>
                <a:ea typeface="Noto Sans CJK JP"/>
                <a:cs typeface="Noto Sans CJK JP"/>
              </a:rPr>
              <a:t>発生時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3D753-3024-483E-B8A9-6D0783F2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7622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177FA-6D14-40AF-A8F2-AF8BDE86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外部認証API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応答 4–6秒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E9316-A831-49BE-811A-54BDE848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27622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CE9E7"/>
          </a:solidFill>
          <a:ln xmlns:a="http://schemas.openxmlformats.org/drawingml/2006/main" w="9525">
            <a:solidFill>
              <a:srgbClr val="B13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01DD2-D2B7-4592-B636-08D446DF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13B3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B13B35"/>
                </a:solidFill>
                <a:latin typeface="Noto Sans CJK JP"/>
                <a:ea typeface="Noto Sans CJK JP"/>
                <a:cs typeface="Noto Sans CJK JP"/>
              </a:rPr>
              <a:t>アプリ設定</a:t>
            </a:r>
          </a:p>
          <a:p xmlns:a="http://schemas.openxmlformats.org/drawingml/2006/main">
            <a:pPr algn="ctr">
              <a:defRPr sz="1725" b="1">
                <a:solidFill>
                  <a:srgbClr val="B13B3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B13B35"/>
                </a:solidFill>
                <a:latin typeface="Noto Sans CJK JP"/>
                <a:ea typeface="Noto Sans CJK JP"/>
                <a:cs typeface="Noto Sans CJK JP"/>
              </a:rPr>
              <a:t>読取 3秒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6EEC4-E8EE-4104-8DF9-5552B0C7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0250"/>
            <a:ext cx="27622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B13B35"/>
          </a:solidFill>
          <a:ln xmlns:a="http://schemas.openxmlformats.org/drawingml/2006/main" w="9525">
            <a:solidFill>
              <a:srgbClr val="B13B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72A1E-3282-472C-9482-BB3DA3C2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9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タイムアウト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ログイン失敗</a:t>
            </a:r>
          </a:p>
        </p:txBody>
      </p: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48050" y="25146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575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258050" y="25146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13B35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1055DB-5BC7-4A52-9999-528F2B74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805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16805A"/>
                </a:solidFill>
                <a:latin typeface="Noto Sans CJK JP"/>
                <a:ea typeface="Noto Sans CJK JP"/>
                <a:cs typeface="Noto Sans CJK JP"/>
              </a:rPr>
              <a:t>対策後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98DDE-F9F1-43F8-8414-2057A8F8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7622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F737D-159F-44DD-A77C-CC421051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外部認証API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応答 4–6秒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9EAE5-1A94-4BED-8C84-9EE3B13E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14800"/>
            <a:ext cx="27622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DDF3F6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E52DE-9D10-4C79-B0B1-36769385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アプリ設定</a:t>
            </a:r>
          </a:p>
          <a:p xmlns:a="http://schemas.openxmlformats.org/drawingml/2006/main">
            <a:pPr algn="ctr">
              <a:defRPr sz="17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読取 8秒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DE3D2C-C7C7-49DC-9636-BD64CFFE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7622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1680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D762FC-B035-44B9-967E-416A557D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805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16805A"/>
                </a:solidFill>
                <a:latin typeface="Noto Sans CJK JP"/>
                <a:ea typeface="Noto Sans CJK JP"/>
                <a:cs typeface="Noto Sans CJK JP"/>
              </a:rPr>
              <a:t>50 / 50件</a:t>
            </a:r>
          </a:p>
          <a:p xmlns:a="http://schemas.openxmlformats.org/drawingml/2006/main">
            <a:pPr algn="ctr">
              <a:defRPr sz="1725" b="1">
                <a:solidFill>
                  <a:srgbClr val="16805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16805A"/>
                </a:solidFill>
                <a:latin typeface="Noto Sans CJK JP"/>
                <a:ea typeface="Noto Sans CJK JP"/>
                <a:cs typeface="Noto Sans CJK JP"/>
              </a:rPr>
              <a:t>ログイン成功</a:t>
            </a:r>
          </a:p>
        </p:txBody>
      </p:sp>
      <p:cxnSp>
        <p:nvCxnSpPr>
          <p:cNvPr id="48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448050" y="46291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575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258050" y="46291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05A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1BD74-F6DB-4985-96A3-BED0C8F4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本番では認証APIのp95応答時間と5xx率を監視し、遅延の再発を早期検知する。</a:t>
            </a:r>
          </a:p>
        </p:txBody>
      </p:sp>
    </p:spTree>
    <p:extLst>
      <p:ext uri="{BB962C8B-B14F-4D97-AF65-F5344CB8AC3E}">
        <p14:creationId xmlns:p14="http://schemas.microsoft.com/office/powerpoint/2010/main" val="1469212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E3B1E-CDFF-4F4B-92E4-5F425158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C8938-6CC1-416D-A505-898A6A85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本番変更内容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6300B-2801-40E7-A480-D40FE06F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CHG-20260926-01　2026年9月26日 22:00–23:30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16A5B-4180-44E7-BDD2-330FDC39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439AA-4C98-415F-A72C-0998CB66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7F34C-FFD2-4699-833F-C22B8A30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顧客管理システム刷新プロジェクト　記入例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66750" y="1600200"/>
          <a:ext xmlns:a="http://schemas.openxmlformats.org/drawingml/2006/main" cx="108585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333625"/>
                <a:gridCol w="2333625"/>
                <a:gridCol w="4000500"/>
              </a:tblGrid>
              <a:tr h="5143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対象</a:t>
                      </a:r>
                    </a:p>
                  </a:txBody>
                  <a:tcPr marL="95250" marR="9525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変更前</a:t>
                      </a:r>
                    </a:p>
                  </a:txBody>
                  <a:tcPr marL="95250" marR="9525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変更後</a:t>
                      </a:r>
                    </a:p>
                  </a:txBody>
                  <a:tcPr marL="95250" marR="9525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目的</a:t>
                      </a:r>
                    </a:p>
                  </a:txBody>
                  <a:tcPr marL="95250" marR="95250" marT="57150" marB="57150" anchor="ctr"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アプリ版数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crm-app 1.2.2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E7490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crm-app 1.2.3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タイムアウト設定を反映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ECSタスク定義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crm-app:123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E7490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crm-app:124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新しいコンテナを配備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SSMパラメータ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3000 ms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E7490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8000 ms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認証APIの遅延を許容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監視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5xx中心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E7490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p95・5xx・失敗件数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再発を早期検知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AF830-96A1-479D-8F9A-F3DEEDF8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0CA60-3617-456D-BCB4-65FB53E2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61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A76100"/>
                </a:solidFill>
                <a:latin typeface="Noto Sans CJK JP"/>
                <a:ea typeface="Noto Sans CJK JP"/>
                <a:cs typeface="Noto Sans CJK JP"/>
              </a:rPr>
              <a:t>変更対象外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4C872-6EFC-4263-8AD6-7621CFE2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97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データベース構造、顧客データ、認証方式は変更しない。</a:t>
            </a:r>
          </a:p>
        </p:txBody>
      </p:sp>
    </p:spTree>
    <p:extLst>
      <p:ext uri="{BB962C8B-B14F-4D97-AF65-F5344CB8AC3E}">
        <p14:creationId xmlns:p14="http://schemas.microsoft.com/office/powerpoint/2010/main" val="15619184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0C3DDC-5CDC-438C-AAEA-C025BA4F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EE6C8-91D4-400A-861B-C71DFFED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当日の作業計画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8E7DE-CAF9-40E9-B0A6-83CBB6B8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サービス停止予定　22:00–22:50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34994-4C5A-4ABC-BF19-D8450C40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BB543-C0AB-43B6-8EDD-AAC3C0C8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EE2DB-F71C-4F3A-AE30-0CB25B75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顧客管理システム刷新プロジェクト　記入例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6DC03-F5A3-479A-A7DB-F39ACEE3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作業タイムライン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0C1AC-E8C4-4279-A599-852C0402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923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9B148-5245-4D07-BC6A-BD2A7BD8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27CE9-D38F-498A-AB59-AD380CB5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193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22:00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96407-6402-4B30-9BE8-7859C5BD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8384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停止・周知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448BA-5261-4BAE-936B-144A02BC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19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1699C8-9F96-40AE-A576-54078B3F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193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22:10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2AE20-EBA3-42D7-9D9C-9989CB6A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384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バックアップ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EDB10-7522-4E5F-84BC-8E75E995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2CDC2-88BF-4CE8-A169-088D4186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193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22:15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F0461-983E-4782-A6B3-AA5F0A7B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384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設定変更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00B7A-D112-4528-8B8C-3F1DCD43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02BEA2-604A-4063-B493-943BF70D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193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22:20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2C50B-9DE7-4624-8C5D-F5301A8B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384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アプリ配備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33780F-1774-40A4-9BB3-C1BA85D2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19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7EDCE8-850C-46D7-B4AC-36796015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22:42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F563A6-DD4E-473B-B3D6-40CD611E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384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再開判断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CB4AA-487B-41CF-A426-552AD36A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19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67068-3C57-4310-AC67-FDC266B9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193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23:30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3304E8-3463-401F-B5D4-8163E5B8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384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監視終了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B9E64-0A8D-4202-84A7-DFD7F48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739140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C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F4AB2D-C5C6-43C5-BB7A-DBA0A83B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9975"/>
            <a:ext cx="731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13B3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B13B35"/>
                </a:solidFill>
                <a:latin typeface="Noto Sans CJK JP"/>
                <a:ea typeface="Noto Sans CJK JP"/>
                <a:cs typeface="Noto Sans CJK JP"/>
              </a:rPr>
              <a:t>サービス停止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C7783F-1357-4A31-BB48-669B4DBB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300"/>
            <a:ext cx="18478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A6096C-27FE-48BF-9889-FD2F20CB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997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05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16805A"/>
                </a:solidFill>
                <a:latin typeface="Noto Sans CJK JP"/>
                <a:ea typeface="Noto Sans CJK JP"/>
                <a:cs typeface="Noto Sans CJK JP"/>
              </a:rPr>
              <a:t>再開後監視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C58E60-5760-4378-8848-5B10F666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担当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1ACD44-5E12-4C52-B20D-86452CE1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476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統括・判断　</a:t>
            </a:r>
            <a:r>
              <a:rPr sz="142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山田（PM）</a:t>
            </a:r>
          </a:p>
          <a:p xmlns:a="http://schemas.openxmlformats.org/drawingml/2006/main">
            <a:pPr algn="l">
              <a:defRPr sz="142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アプリ作業　</a:t>
            </a:r>
            <a:r>
              <a:rPr sz="142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佐藤</a:t>
            </a:r>
          </a:p>
          <a:p xmlns:a="http://schemas.openxmlformats.org/drawingml/2006/main">
            <a:pPr algn="l">
              <a:defRPr sz="142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基盤・監視　</a:t>
            </a:r>
            <a:r>
              <a:rPr sz="142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鈴木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CB38F3-CECF-42FF-B6BC-46753007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53000"/>
            <a:ext cx="4953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動作確認　</a:t>
            </a:r>
            <a:r>
              <a:rPr sz="142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高橋（QA）</a:t>
            </a:r>
          </a:p>
          <a:p xmlns:a="http://schemas.openxmlformats.org/drawingml/2006/main">
            <a:pPr algn="l">
              <a:defRPr sz="142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業務確認　</a:t>
            </a:r>
            <a:r>
              <a:rPr sz="142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伊藤</a:t>
            </a:r>
          </a:p>
          <a:p xmlns:a="http://schemas.openxmlformats.org/drawingml/2006/main">
            <a:pPr algn="l">
              <a:defRPr sz="142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連絡手段　</a:t>
            </a:r>
            <a:r>
              <a:rPr sz="1425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Teams 作業チャネル</a:t>
            </a:r>
          </a:p>
        </p:txBody>
      </p:sp>
    </p:spTree>
    <p:extLst>
      <p:ext uri="{BB962C8B-B14F-4D97-AF65-F5344CB8AC3E}">
        <p14:creationId xmlns:p14="http://schemas.microsoft.com/office/powerpoint/2010/main" val="18391333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8F13F-F498-4D82-9D29-A5E2389D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FF0D8-6519-44F6-AB8F-AB007BC5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中止条件と切戻し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661C6-D6A3-4DB5-86EF-6FEA917B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判断者は山田PM。各担当は検知後ただちに報告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F7F11-532A-4938-8692-AF44FCF9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9E048-A168-4229-9BF6-1B9EE5D4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1E25F-5904-49B3-8370-159EC5F3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顧客管理システム刷新プロジェクト　記入例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66750" y="1562100"/>
          <a:ext xmlns:a="http://schemas.openxmlformats.org/drawingml/2006/main" cx="108585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3333750"/>
                <a:gridCol w="4429125"/>
              </a:tblGrid>
              <a:tr h="457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中止・切戻し条件</a:t>
                      </a:r>
                    </a:p>
                  </a:txBody>
                  <a:tcPr marL="95250" marR="9525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判定基準</a:t>
                      </a:r>
                    </a:p>
                  </a:txBody>
                  <a:tcPr marL="95250" marR="9525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初動</a:t>
                      </a:r>
                    </a:p>
                  </a:txBody>
                  <a:tcPr marL="95250" marR="95250" marT="57150" marB="57150" anchor="ctr">
                    <a:solidFill>
                      <a:srgbClr val="0B1F3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配備が安定しない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B13B35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15分を超えて安定しない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旧タスク定義へ戻す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ECSの健全性低下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B13B35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Healthy Host 2台未満が5分継続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新タスク停止、旧版を再配備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ログイン失敗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B13B35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確認20件中2件以上失敗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設定とアプリを切り戻す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サーバエラー増加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B13B35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5xx率 1%以上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ALB・アプリログを確認後に切戻し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データ不整合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B13B35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1件でも検知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サービス停止を継続し影響を調査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66D03-BA6F-4CE0-9DEF-C2C8097E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84F45-DD2E-4C3A-BEE3-10B9D305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切戻し順序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752ED-AD1C-4492-9638-032DAE44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340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172033"/>
                </a:solidFill>
                <a:latin typeface="Noto Sans CJK JP"/>
                <a:ea typeface="Noto Sans CJK JP"/>
                <a:cs typeface="Noto Sans CJK JP"/>
              </a:rPr>
              <a:t>1　メンテナンス継続　　2　SSMを3000 msへ戻す　　3　crm-app:123を再配備　　4　20件再確認</a:t>
            </a:r>
          </a:p>
        </p:txBody>
      </p:sp>
    </p:spTree>
    <p:extLst>
      <p:ext uri="{BB962C8B-B14F-4D97-AF65-F5344CB8AC3E}">
        <p14:creationId xmlns:p14="http://schemas.microsoft.com/office/powerpoint/2010/main" val="1117507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F1590-D7CE-49B1-83BD-E4EFDFB8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73948-4C4F-403A-ABA1-D69297C5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0B1F3A"/>
                </a:solidFill>
                <a:latin typeface="Noto Sans CJK JP"/>
                <a:ea typeface="Noto Sans CJK JP"/>
                <a:cs typeface="Noto Sans CJK JP"/>
              </a:rPr>
              <a:t>決定事項と次の作業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03E55-A053-4795-BB86-B5FAF0F7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会議終了時の記録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6EE5D-1EFD-44C3-8EA7-213B7843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854BA-DD6A-401E-8684-AF2F0B3A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2F5D4-D481-4B5C-98C5-E9FA8B87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B6575"/>
                </a:solidFill>
                <a:latin typeface="Noto Sans CJK JP"/>
                <a:ea typeface="Noto Sans CJK JP"/>
                <a:cs typeface="Noto Sans CJK JP"/>
              </a:rPr>
              <a:t>顧客管理システム刷新プロジェクト　記入例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66750" y="1504950"/>
          <a:ext xmlns:a="http://schemas.openxmlformats.org/drawingml/2006/main" cx="108585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7334250"/>
                <a:gridCol w="2095500"/>
              </a:tblGrid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決定ID</a:t>
                      </a:r>
                    </a:p>
                  </a:txBody>
                  <a:tcPr marL="95250" marR="9525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決定事項</a:t>
                      </a:r>
                    </a:p>
                  </a:txBody>
                  <a:tcPr marL="95250" marR="9525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結果</a:t>
                      </a:r>
                    </a:p>
                  </a:txBody>
                  <a:tcPr marL="95250" marR="95250" marT="57150" marB="57150" anchor="ctr">
                    <a:solidFill>
                      <a:srgbClr val="0B1F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D01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9月26日の本番メンテナンスを実施する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16805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承認</a:t>
                      </a:r>
                    </a:p>
                  </a:txBody>
                  <a:tcPr marL="95250" marR="95250" marT="57150" marB="57150" anchor="ctr">
                    <a:solidFill>
                      <a:srgbClr val="E7F4E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D02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停止予定を22:00–22:50とする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16805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承認</a:t>
                      </a:r>
                    </a:p>
                  </a:txBody>
                  <a:tcPr marL="95250" marR="95250" marT="57150" marB="57150" anchor="ctr">
                    <a:solidFill>
                      <a:srgbClr val="E7F4E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D03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記載の中止条件を当日の判断基準とする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16805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承認</a:t>
                      </a:r>
                    </a:p>
                  </a:txBody>
                  <a:tcPr marL="95250" marR="95250" marT="57150" marB="57150" anchor="ctr">
                    <a:solidFill>
                      <a:srgbClr val="E7F4EE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E5631-CDB9-4E9C-BD1F-4E7F7EFF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0E7490"/>
                </a:solidFill>
                <a:latin typeface="Noto Sans CJK JP"/>
                <a:ea typeface="Noto Sans CJK JP"/>
                <a:cs typeface="Noto Sans CJK JP"/>
              </a:rPr>
              <a:t>次の作業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66750" y="4286250"/>
          <a:ext xmlns:a="http://schemas.openxmlformats.org/drawingml/2006/main" cx="10858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5429250"/>
                <a:gridCol w="2286000"/>
                <a:gridCol w="1714500"/>
              </a:tblGrid>
              <a:tr h="3429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ID</a:t>
                      </a:r>
                    </a:p>
                  </a:txBody>
                  <a:tcPr marL="95250" marR="9525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作業</a:t>
                      </a:r>
                    </a:p>
                  </a:txBody>
                  <a:tcPr marL="95250" marR="9525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担当</a:t>
                      </a:r>
                    </a:p>
                  </a:txBody>
                  <a:tcPr marL="95250" marR="9525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期限</a:t>
                      </a:r>
                    </a:p>
                  </a:txBody>
                  <a:tcPr marL="95250" marR="95250" marT="57150" marB="57150" anchor="ctr">
                    <a:solidFill>
                      <a:srgbClr val="0B1F3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PM-001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本番変更申請の最終承認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山田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E7490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9/22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PM-002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設定値とタスク定義の事前確認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佐藤・鈴木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E7490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9/24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PM-003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試験項目と確認用アカウント準備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高橋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E7490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9/25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PM-004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利用部門への停止案内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伊藤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E7490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9/24</a:t>
                      </a:r>
                    </a:p>
                  </a:txBody>
                  <a:tcPr marL="95250" marR="95250" marT="57150" marB="57150" anchor="ctr">
                    <a:solidFill>
                      <a:srgbClr val="F3F6F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PM-005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当日ログ・監視記録の保管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720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鈴木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E7490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9/27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609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2026-09-18T18:30:16.6890000Z</dcterms:created>
  <dcterms:modified xsi:type="dcterms:W3CDTF">2026-09-18T18:30:16.6900000Z</dcterms:modified>
</coreProperties>
</file>